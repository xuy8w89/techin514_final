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3" r:id="rId4"/>
    <p:sldId id="262" r:id="rId5"/>
    <p:sldId id="264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680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0442C7-D3DA-6D37-812E-66B032C2F6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56E65A7-5E76-5EAC-9C16-B92AE3B4CF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420A9D-D492-775E-8FE2-C89B1C2B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B1EB7-97E3-48B8-878D-37829AA49D3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4E8A0F-6AF5-4B78-5B96-80399D47A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6FEF1D-36AA-CD58-F609-1D07943C5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3CBB6-A1E4-4868-A168-F70536E21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695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13C43-A5D8-766D-0902-A3C776E21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A511E7-6E3D-191F-B5D6-A77F9238E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546937-37EF-6E78-97CE-2EE19733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B1EB7-97E3-48B8-878D-37829AA49D3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55FBD9-6F42-4F76-F87E-0253EB22C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AB6CD8-5BD4-D570-55F6-0E2E65695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3CBB6-A1E4-4868-A168-F70536E21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79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2B3C24-5DFF-C2BD-0D5E-C49A3A9A4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A9DB1D-17ED-2143-F187-6EF21B24F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4CB052-2CA6-48D5-4F95-EC3105AB1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B1EB7-97E3-48B8-878D-37829AA49D3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64F9DD-3313-1F6D-EBAC-C713A3B04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3CCB36-DCCF-4981-F543-0A1C77A15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3CBB6-A1E4-4868-A168-F70536E21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143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2D404A-7DF5-B689-AB5A-51E467102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6D02F6-60D9-6A3E-E5A2-FFAA59B19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BF4164-5254-7852-F3DF-703BC9E2E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C47981-0885-1811-C699-4DEBB1A9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B1EB7-97E3-48B8-878D-37829AA49D3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18A006-5E03-09C4-1716-EA27560C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01CE64-B3FA-4086-FFC7-05BAFE714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3CBB6-A1E4-4868-A168-F70536E21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216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EE7065-E856-6D05-B993-28FC39832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7C4BB8-4BC8-9AA8-904E-9929C4610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AE7EE7-5444-51E4-0504-246705F47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80F3E0-9FD6-08D1-53FA-A7D6688472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D25EF13-0C4D-7AD9-8803-310691AB5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A227A4D-F061-FCBE-0E93-3D6C1DA8E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B1EB7-97E3-48B8-878D-37829AA49D3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01D82A5-3C1E-7BB4-66B1-05724680D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74713AB-30F4-1B9F-227F-90D2F3B9F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3CBB6-A1E4-4868-A168-F70536E21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233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7F92E-2B2D-5F38-939B-628551C6C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F3C4EF0-9487-A76E-07EE-3A2FA3243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B1EB7-97E3-48B8-878D-37829AA49D3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5085181-D802-6E72-2F5C-759C79947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4936D6-888B-E35C-37DA-70C7621B8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3CBB6-A1E4-4868-A168-F70536E21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37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27A1F7C-4CC7-316A-DD37-EA9770136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B1EB7-97E3-48B8-878D-37829AA49D3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3F9FDE-BCB3-19EB-1A7D-A150038F3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9E5FA1-3A8E-F9B0-4ED5-83A340E20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3CBB6-A1E4-4868-A168-F70536E21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09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256DBE-D80D-CE96-57E9-C9378A022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932290-76C7-11A2-EF5E-824884BE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41A47E-2B02-7969-B0C3-0E1C91F6D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799B80-2B53-4CBA-CDB8-8CDCB0E6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B1EB7-97E3-48B8-878D-37829AA49D3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87EF5C-6F48-3587-BEBE-FF99BDE4C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67051D-520E-6890-26E3-5016CC6AB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3CBB6-A1E4-4868-A168-F70536E21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798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7E0E22-DAD0-3821-9AE6-3D8314266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02A592-D097-2AC2-1A2F-9222CAE348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202903-CF7D-A177-8673-DDA59728C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514096-FA9A-8A28-A867-FE1AE269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B1EB7-97E3-48B8-878D-37829AA49D3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3EBB4F-E826-1DD7-441C-2FC4012CC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785891-A01A-C893-FE9A-E74C5F91D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3CBB6-A1E4-4868-A168-F70536E21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698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41D2C4-0327-2B0D-C32B-49BD88609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FCAE23-B18F-EBA1-D7C2-EC3594F0C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487CF-3D8C-78D0-5967-E5E62017B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B1EB7-97E3-48B8-878D-37829AA49D3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E6C22D-EF73-787E-DAD4-D6F8F8643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DF0E7D-7CDC-75EC-F9C2-DC36473E1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3CBB6-A1E4-4868-A168-F70536E21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655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736F51-5DB7-9938-7E4C-DEEBC779B5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9048FB-D55A-6026-A385-F6EFB1C39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DFF255-A79C-F098-83B8-CAFF0051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B1EB7-97E3-48B8-878D-37829AA49D3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6B247E-B888-8844-0F0E-424BDF2FB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5A926D-32B3-AD3B-025F-B3D0D252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3CBB6-A1E4-4868-A168-F70536E21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464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4B4262E-C71C-CBE1-4A55-914986781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065795-15AD-0678-322E-77F26E6C9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E79CD8-21BB-8134-FCCE-477AD03A6F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B1EB7-97E3-48B8-878D-37829AA49D3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04A350-0F2A-A281-6808-87D3EC131D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423D64-69E1-6387-DBCD-D4A0B140C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3CBB6-A1E4-4868-A168-F70536E21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30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137C4-70BA-FDF9-C1CE-B63ACE650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2AE3BC7A-8062-AFB0-0617-4D411DC7E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3101" cy="4351338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latin typeface="Tw Cen MT" panose="020B0602020104020603" pitchFamily="34" charset="0"/>
              </a:rPr>
              <a:t>Idea: Wirelessly monitor the water volume on table and remind users on drinking water </a:t>
            </a:r>
          </a:p>
          <a:p>
            <a:r>
              <a:rPr lang="en-US" altLang="zh-CN" sz="2000" dirty="0">
                <a:latin typeface="Tw Cen MT" panose="020B0602020104020603" pitchFamily="34" charset="0"/>
              </a:rPr>
              <a:t>Sketch</a:t>
            </a:r>
          </a:p>
          <a:p>
            <a:r>
              <a:rPr lang="en-US" altLang="zh-CN" sz="2000" dirty="0">
                <a:latin typeface="Tw Cen MT" panose="020B0602020104020603" pitchFamily="34" charset="0"/>
              </a:rPr>
              <a:t>Wireless: WIFI</a:t>
            </a:r>
          </a:p>
          <a:p>
            <a:r>
              <a:rPr lang="en-US" altLang="zh-CN" sz="2000" dirty="0">
                <a:latin typeface="Tw Cen MT" panose="020B0602020104020603" pitchFamily="34" charset="0"/>
              </a:rPr>
              <a:t>Power: battery/charged</a:t>
            </a:r>
          </a:p>
          <a:p>
            <a:r>
              <a:rPr lang="en-US" altLang="zh-CN" sz="2000" dirty="0">
                <a:latin typeface="Tw Cen MT" panose="020B0602020104020603" pitchFamily="34" charset="0"/>
              </a:rPr>
              <a:t>Processing: implement the decoding algorithm to interpret water volume from capacitive sensor and develop a recommendation algorithm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3D84B3D-FEB1-0149-EE81-9F4D4658F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w Cen MT" panose="020B0602020104020603" pitchFamily="34" charset="0"/>
              </a:rPr>
              <a:t>On-table drinking reminder</a:t>
            </a:r>
            <a:endParaRPr lang="zh-CN" altLang="en-US" dirty="0">
              <a:latin typeface="Tw Cen MT" panose="020B0602020104020603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06E2D09-2EA8-E5EE-0DBA-8B7660713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369" y="2294334"/>
            <a:ext cx="5691744" cy="395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88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5830B-618B-981C-D40A-C1DC285DA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14374242-A4C7-4A63-9C91-A0E7B6504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3101" cy="4351338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latin typeface="Tw Cen MT" panose="020B0602020104020603" pitchFamily="34" charset="0"/>
              </a:rPr>
              <a:t>Capacitive sensor sense the capacitance</a:t>
            </a:r>
          </a:p>
          <a:p>
            <a:r>
              <a:rPr lang="en-US" altLang="zh-CN" sz="2000" dirty="0">
                <a:latin typeface="Tw Cen MT" panose="020B0602020104020603" pitchFamily="34" charset="0"/>
              </a:rPr>
              <a:t>Water has capacitance, different volume of water resulted in different capacitance, then the volume of the water can be detected by decoding the sensed capacitance by the sensor</a:t>
            </a:r>
          </a:p>
          <a:p>
            <a:r>
              <a:rPr lang="en-US" altLang="zh-CN" sz="2000" dirty="0">
                <a:latin typeface="Tw Cen MT" panose="020B0602020104020603" pitchFamily="34" charset="0"/>
              </a:rPr>
              <a:t>This module support decoding the capacitance via the transformed voltage, which can be sensed using Analog reading through MCU</a:t>
            </a:r>
          </a:p>
          <a:p>
            <a:r>
              <a:rPr lang="en-US" altLang="zh-CN" sz="2000" dirty="0">
                <a:highlight>
                  <a:srgbClr val="FF0000"/>
                </a:highlight>
                <a:latin typeface="Tw Cen MT" panose="020B0602020104020603" pitchFamily="34" charset="0"/>
              </a:rPr>
              <a:t>Capacitive Sensor: TTP223</a:t>
            </a:r>
          </a:p>
          <a:p>
            <a:r>
              <a:rPr lang="en-US" altLang="zh-CN" sz="2000" dirty="0">
                <a:highlight>
                  <a:srgbClr val="FF0000"/>
                </a:highlight>
                <a:latin typeface="Tw Cen MT" panose="020B0602020104020603" pitchFamily="34" charset="0"/>
              </a:rPr>
              <a:t>MCU: Xiao ESP32C3</a:t>
            </a:r>
          </a:p>
          <a:p>
            <a:pPr marL="0" indent="0">
              <a:buNone/>
            </a:pPr>
            <a:endParaRPr lang="en-US" altLang="zh-CN" sz="2000" dirty="0">
              <a:latin typeface="Tw Cen MT" panose="020B0602020104020603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52346D4-C68F-8D96-0F66-759A40C2F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w Cen MT" panose="020B0602020104020603" pitchFamily="34" charset="0"/>
              </a:rPr>
              <a:t>Sensor</a:t>
            </a:r>
            <a:endParaRPr lang="zh-CN" altLang="en-US" dirty="0">
              <a:latin typeface="Tw Cen MT" panose="020B0602020104020603" pitchFamily="34" charset="0"/>
            </a:endParaRPr>
          </a:p>
        </p:txBody>
      </p:sp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0943F1B1-A43C-A5B5-FC57-A0EBF381C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241" y="1384195"/>
            <a:ext cx="3105310" cy="2044805"/>
          </a:xfrm>
          <a:prstGeom prst="rect">
            <a:avLst/>
          </a:prstGeom>
        </p:spPr>
      </p:pic>
      <p:pic>
        <p:nvPicPr>
          <p:cNvPr id="8" name="图片 7" descr="图片包含 形状&#10;&#10;AI 生成的内容可能不正确。">
            <a:extLst>
              <a:ext uri="{FF2B5EF4-FFF2-40B4-BE49-F238E27FC236}">
                <a16:creationId xmlns:a16="http://schemas.microsoft.com/office/drawing/2014/main" id="{6B5C4717-7566-3125-4717-07EF05E1A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166439" y="3524716"/>
            <a:ext cx="1153709" cy="1477205"/>
          </a:xfrm>
          <a:prstGeom prst="rect">
            <a:avLst/>
          </a:prstGeom>
        </p:spPr>
      </p:pic>
      <p:pic>
        <p:nvPicPr>
          <p:cNvPr id="9" name="图片 8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8A007D1D-076A-06A1-1283-08C1B16CC9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2221"/>
          <a:stretch>
            <a:fillRect/>
          </a:stretch>
        </p:blipFill>
        <p:spPr>
          <a:xfrm>
            <a:off x="9762332" y="2709758"/>
            <a:ext cx="2265043" cy="374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180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38694-78EF-4C94-2F97-1591C05C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21DEEE90-E10E-1C39-3D76-DFEA7E2D3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3101" cy="4791560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latin typeface="Tw Cen MT" panose="020B0602020104020603" pitchFamily="34" charset="0"/>
              </a:rPr>
              <a:t>Stepper-driven motor + Adafruit motor shield + LED + MCU</a:t>
            </a:r>
          </a:p>
          <a:p>
            <a:r>
              <a:rPr lang="en-US" altLang="zh-CN" sz="2000" dirty="0">
                <a:latin typeface="Tw Cen MT" panose="020B0602020104020603" pitchFamily="34" charset="0"/>
              </a:rPr>
              <a:t>The inner counter of MCU record the time between two times of drinking water and let the LED glow once the time interval is bigger than a threshold.</a:t>
            </a:r>
          </a:p>
          <a:p>
            <a:r>
              <a:rPr lang="en-US" altLang="zh-CN" sz="2000" dirty="0">
                <a:latin typeface="Tw Cen MT" panose="020B0602020104020603" pitchFamily="34" charset="0"/>
              </a:rPr>
              <a:t>The motor with gauge needle will rotate according to the water volume when water is stably placed on the capacitive sensor.</a:t>
            </a:r>
          </a:p>
          <a:p>
            <a:r>
              <a:rPr lang="en-US" altLang="zh-CN" sz="2000" dirty="0">
                <a:highlight>
                  <a:srgbClr val="FF0000"/>
                </a:highlight>
                <a:latin typeface="Tw Cen MT" panose="020B0602020104020603" pitchFamily="34" charset="0"/>
              </a:rPr>
              <a:t>Motor: C140 motor</a:t>
            </a:r>
          </a:p>
          <a:p>
            <a:r>
              <a:rPr lang="en-US" altLang="zh-CN" sz="2000" dirty="0">
                <a:highlight>
                  <a:srgbClr val="FF0000"/>
                </a:highlight>
                <a:latin typeface="Tw Cen MT" panose="020B0602020104020603" pitchFamily="34" charset="0"/>
              </a:rPr>
              <a:t>LED: LSM0603 Series 0603 SMD LED</a:t>
            </a:r>
          </a:p>
          <a:p>
            <a:r>
              <a:rPr lang="en-US" altLang="zh-CN" sz="2000" dirty="0">
                <a:highlight>
                  <a:srgbClr val="FF0000"/>
                </a:highlight>
                <a:latin typeface="Tw Cen MT" panose="020B0602020104020603" pitchFamily="34" charset="0"/>
              </a:rPr>
              <a:t>Motor shield chip: TB6612FNG</a:t>
            </a:r>
          </a:p>
          <a:p>
            <a:r>
              <a:rPr lang="en-US" altLang="zh-CN" sz="2000" dirty="0">
                <a:highlight>
                  <a:srgbClr val="FF0000"/>
                </a:highlight>
                <a:latin typeface="Tw Cen MT" panose="020B0602020104020603" pitchFamily="34" charset="0"/>
              </a:rPr>
              <a:t>MCU: Xiao ESP32C3</a:t>
            </a:r>
          </a:p>
          <a:p>
            <a:endParaRPr lang="en-US" altLang="zh-CN" sz="2000" dirty="0">
              <a:highlight>
                <a:srgbClr val="FF0000"/>
              </a:highlight>
              <a:latin typeface="Tw Cen MT" panose="020B0602020104020603" pitchFamily="34" charset="0"/>
            </a:endParaRPr>
          </a:p>
          <a:p>
            <a:pPr marL="0" indent="0">
              <a:buNone/>
            </a:pPr>
            <a:endParaRPr lang="en-US" altLang="zh-CN" sz="2000" dirty="0">
              <a:latin typeface="Tw Cen MT" panose="020B0602020104020603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729A9BF-EF3C-91E3-9EC9-C68E900C5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w Cen MT" panose="020B0602020104020603" pitchFamily="34" charset="0"/>
              </a:rPr>
              <a:t>Display</a:t>
            </a:r>
            <a:endParaRPr lang="zh-CN" altLang="en-US" dirty="0">
              <a:latin typeface="Tw Cen MT" panose="020B0602020104020603" pitchFamily="34" charset="0"/>
            </a:endParaRPr>
          </a:p>
        </p:txBody>
      </p:sp>
      <p:pic>
        <p:nvPicPr>
          <p:cNvPr id="9" name="图片 8" descr="社交网络的手机截图&#10;&#10;AI 生成的内容可能不正确。">
            <a:extLst>
              <a:ext uri="{FF2B5EF4-FFF2-40B4-BE49-F238E27FC236}">
                <a16:creationId xmlns:a16="http://schemas.microsoft.com/office/drawing/2014/main" id="{D0D1B444-F42C-6371-1F36-7C6CBD773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530" y="3099188"/>
            <a:ext cx="4259665" cy="2149429"/>
          </a:xfrm>
          <a:prstGeom prst="rect">
            <a:avLst/>
          </a:prstGeom>
        </p:spPr>
      </p:pic>
      <p:pic>
        <p:nvPicPr>
          <p:cNvPr id="12" name="图片 11" descr="电子仪器&#10;&#10;AI 生成的内容可能不正确。">
            <a:extLst>
              <a:ext uri="{FF2B5EF4-FFF2-40B4-BE49-F238E27FC236}">
                <a16:creationId xmlns:a16="http://schemas.microsoft.com/office/drawing/2014/main" id="{B04096E9-48AB-672C-70B5-140EACE91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530" y="961249"/>
            <a:ext cx="2965602" cy="2121661"/>
          </a:xfrm>
          <a:prstGeom prst="rect">
            <a:avLst/>
          </a:prstGeom>
        </p:spPr>
      </p:pic>
      <p:pic>
        <p:nvPicPr>
          <p:cNvPr id="14" name="图片 13" descr="图片包含 游戏机, 食物&#10;&#10;AI 生成的内容可能不正确。">
            <a:extLst>
              <a:ext uri="{FF2B5EF4-FFF2-40B4-BE49-F238E27FC236}">
                <a16:creationId xmlns:a16="http://schemas.microsoft.com/office/drawing/2014/main" id="{0316B761-8F51-5ECE-E6F6-DAFC73529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10" y="1472724"/>
            <a:ext cx="1714588" cy="1511378"/>
          </a:xfrm>
          <a:prstGeom prst="rect">
            <a:avLst/>
          </a:prstGeom>
        </p:spPr>
      </p:pic>
      <p:pic>
        <p:nvPicPr>
          <p:cNvPr id="17" name="图片 16" descr="图片包含 形状&#10;&#10;AI 生成的内容可能不正确。">
            <a:extLst>
              <a:ext uri="{FF2B5EF4-FFF2-40B4-BE49-F238E27FC236}">
                <a16:creationId xmlns:a16="http://schemas.microsoft.com/office/drawing/2014/main" id="{0711CCD5-F945-D0D5-573D-4875ABEFF8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549588" y="5301728"/>
            <a:ext cx="1153709" cy="1477205"/>
          </a:xfrm>
          <a:prstGeom prst="rect">
            <a:avLst/>
          </a:prstGeom>
        </p:spPr>
      </p:pic>
      <p:pic>
        <p:nvPicPr>
          <p:cNvPr id="19" name="图片 18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052CAEAA-7734-FF0D-0633-8EF2579BEF3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2221"/>
          <a:stretch>
            <a:fillRect/>
          </a:stretch>
        </p:blipFill>
        <p:spPr>
          <a:xfrm>
            <a:off x="9813132" y="3117658"/>
            <a:ext cx="2265043" cy="374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508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2E004-9809-BF53-33BB-5F28C9F6F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0EDD01-4250-C979-BABE-87A7B8395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w Cen MT" panose="020B0602020104020603" pitchFamily="34" charset="0"/>
              </a:rPr>
              <a:t>Figure &amp; Diagram</a:t>
            </a:r>
            <a:endParaRPr lang="zh-CN" altLang="en-US" dirty="0">
              <a:latin typeface="Tw Cen MT" panose="020B0602020104020603" pitchFamily="34" charset="0"/>
            </a:endParaRPr>
          </a:p>
        </p:txBody>
      </p:sp>
      <p:pic>
        <p:nvPicPr>
          <p:cNvPr id="9" name="图片 8" descr="图形用户界面&#10;&#10;AI 生成的内容可能不正确。">
            <a:extLst>
              <a:ext uri="{FF2B5EF4-FFF2-40B4-BE49-F238E27FC236}">
                <a16:creationId xmlns:a16="http://schemas.microsoft.com/office/drawing/2014/main" id="{9320D7F7-9876-5972-FDEB-7E4249283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519" y="4058817"/>
            <a:ext cx="1380740" cy="909199"/>
          </a:xfrm>
          <a:prstGeom prst="rect">
            <a:avLst/>
          </a:prstGeom>
        </p:spPr>
      </p:pic>
      <p:pic>
        <p:nvPicPr>
          <p:cNvPr id="13" name="图片 12" descr="图片包含 形状&#10;&#10;AI 生成的内容可能不正确。">
            <a:extLst>
              <a:ext uri="{FF2B5EF4-FFF2-40B4-BE49-F238E27FC236}">
                <a16:creationId xmlns:a16="http://schemas.microsoft.com/office/drawing/2014/main" id="{626B1EEE-5E32-5390-B852-D0A4762D7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737307" y="3774813"/>
            <a:ext cx="1153709" cy="1477205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BF78DDA2-6035-8B17-7CCE-7F01D6AFA434}"/>
              </a:ext>
            </a:extLst>
          </p:cNvPr>
          <p:cNvSpPr txBox="1"/>
          <p:nvPr/>
        </p:nvSpPr>
        <p:spPr>
          <a:xfrm rot="5400000">
            <a:off x="1604525" y="4426596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w Cen MT" panose="020B0602020104020603" pitchFamily="34" charset="0"/>
              </a:rPr>
              <a:t>VCC/GND/SIG</a:t>
            </a:r>
            <a:endParaRPr lang="zh-CN" altLang="en-US" dirty="0"/>
          </a:p>
        </p:txBody>
      </p:sp>
      <p:pic>
        <p:nvPicPr>
          <p:cNvPr id="23" name="图片 22" descr="图片包含 形状&#10;&#10;AI 生成的内容可能不正确。">
            <a:extLst>
              <a:ext uri="{FF2B5EF4-FFF2-40B4-BE49-F238E27FC236}">
                <a16:creationId xmlns:a16="http://schemas.microsoft.com/office/drawing/2014/main" id="{031E4EF5-96A4-0B5C-EE62-3F47E9659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255207" y="3774813"/>
            <a:ext cx="1153709" cy="1477205"/>
          </a:xfrm>
          <a:prstGeom prst="rect">
            <a:avLst/>
          </a:prstGeom>
        </p:spPr>
      </p:pic>
      <p:sp>
        <p:nvSpPr>
          <p:cNvPr id="24" name="箭头: 左右 23">
            <a:extLst>
              <a:ext uri="{FF2B5EF4-FFF2-40B4-BE49-F238E27FC236}">
                <a16:creationId xmlns:a16="http://schemas.microsoft.com/office/drawing/2014/main" id="{E90AB99B-F5B3-50F9-3A09-3C4621CB015F}"/>
              </a:ext>
            </a:extLst>
          </p:cNvPr>
          <p:cNvSpPr/>
          <p:nvPr/>
        </p:nvSpPr>
        <p:spPr>
          <a:xfrm>
            <a:off x="4184681" y="4342337"/>
            <a:ext cx="1776861" cy="26892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WIFI antenna</a:t>
            </a:r>
            <a:endParaRPr lang="zh-CN" altLang="en-US" dirty="0"/>
          </a:p>
        </p:txBody>
      </p:sp>
      <p:pic>
        <p:nvPicPr>
          <p:cNvPr id="25" name="图片 24" descr="图片包含 游戏机, 食物&#10;&#10;AI 生成的内容可能不正确。">
            <a:extLst>
              <a:ext uri="{FF2B5EF4-FFF2-40B4-BE49-F238E27FC236}">
                <a16:creationId xmlns:a16="http://schemas.microsoft.com/office/drawing/2014/main" id="{9F4C40A5-ADD0-A577-020F-DB65F5D362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17" t="53337" r="47215" b="11371"/>
          <a:stretch>
            <a:fillRect/>
          </a:stretch>
        </p:blipFill>
        <p:spPr>
          <a:xfrm>
            <a:off x="6211319" y="2978796"/>
            <a:ext cx="692150" cy="5334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CD23B39B-1F03-7FAF-4318-30C0EDA237C1}"/>
              </a:ext>
            </a:extLst>
          </p:cNvPr>
          <p:cNvSpPr txBox="1"/>
          <p:nvPr/>
        </p:nvSpPr>
        <p:spPr>
          <a:xfrm>
            <a:off x="6031219" y="3512196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w Cen MT" panose="020B0602020104020603" pitchFamily="34" charset="0"/>
              </a:rPr>
              <a:t>Output, GND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BD1A8D-8FAC-4319-B187-F92FE65A72A9}"/>
              </a:ext>
            </a:extLst>
          </p:cNvPr>
          <p:cNvSpPr txBox="1"/>
          <p:nvPr/>
        </p:nvSpPr>
        <p:spPr>
          <a:xfrm rot="5400000">
            <a:off x="6616709" y="4377397"/>
            <a:ext cx="2277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w Cen MT" panose="020B0602020104020603" pitchFamily="34" charset="0"/>
              </a:rPr>
              <a:t>VCC/GND/SCL/SDA</a:t>
            </a:r>
            <a:endParaRPr lang="zh-CN" altLang="en-US" dirty="0"/>
          </a:p>
        </p:txBody>
      </p:sp>
      <p:pic>
        <p:nvPicPr>
          <p:cNvPr id="1026" name="Picture 2" descr="Overhead shot of blue, rectangular motor stepper shield.">
            <a:extLst>
              <a:ext uri="{FF2B5EF4-FFF2-40B4-BE49-F238E27FC236}">
                <a16:creationId xmlns:a16="http://schemas.microsoft.com/office/drawing/2014/main" id="{6A469F8F-DDAB-03E8-1317-7B009B708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504" y="3940059"/>
            <a:ext cx="1430311" cy="1073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5597720C-16C5-5C5B-12CC-ABF0201CF6B8}"/>
              </a:ext>
            </a:extLst>
          </p:cNvPr>
          <p:cNvSpPr txBox="1"/>
          <p:nvPr/>
        </p:nvSpPr>
        <p:spPr>
          <a:xfrm rot="5400000">
            <a:off x="8610135" y="4413399"/>
            <a:ext cx="2107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w Cen MT" panose="020B0602020104020603" pitchFamily="34" charset="0"/>
              </a:rPr>
              <a:t>Built-in PWM control</a:t>
            </a:r>
            <a:endParaRPr lang="zh-CN" altLang="en-US" dirty="0"/>
          </a:p>
        </p:txBody>
      </p:sp>
      <p:pic>
        <p:nvPicPr>
          <p:cNvPr id="37" name="图片 36" descr="图片包含 建筑, 前, 小, 站&#10;&#10;AI 生成的内容可能不正确。">
            <a:extLst>
              <a:ext uri="{FF2B5EF4-FFF2-40B4-BE49-F238E27FC236}">
                <a16:creationId xmlns:a16="http://schemas.microsoft.com/office/drawing/2014/main" id="{60E64173-43EF-3C75-0033-6598977BCA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8773" y="3778279"/>
            <a:ext cx="1505027" cy="1397072"/>
          </a:xfrm>
          <a:prstGeom prst="rect">
            <a:avLst/>
          </a:prstGeom>
        </p:spPr>
      </p:pic>
      <p:pic>
        <p:nvPicPr>
          <p:cNvPr id="39" name="图片 38" descr="图表, 图示&#10;&#10;AI 生成的内容可能不正确。">
            <a:extLst>
              <a:ext uri="{FF2B5EF4-FFF2-40B4-BE49-F238E27FC236}">
                <a16:creationId xmlns:a16="http://schemas.microsoft.com/office/drawing/2014/main" id="{BD895509-ED85-9124-6ABC-341BFCD805C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00368" y="986257"/>
            <a:ext cx="6839675" cy="2215167"/>
          </a:xfrm>
          <a:prstGeom prst="rect">
            <a:avLst/>
          </a:prstGeom>
        </p:spPr>
      </p:pic>
      <p:pic>
        <p:nvPicPr>
          <p:cNvPr id="40" name="图片 39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98E62102-6C31-E795-5267-AD832E695D7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72221" b="43643"/>
          <a:stretch>
            <a:fillRect/>
          </a:stretch>
        </p:blipFill>
        <p:spPr>
          <a:xfrm>
            <a:off x="2769653" y="5090270"/>
            <a:ext cx="1027747" cy="956464"/>
          </a:xfrm>
          <a:prstGeom prst="rect">
            <a:avLst/>
          </a:prstGeom>
        </p:spPr>
      </p:pic>
      <p:pic>
        <p:nvPicPr>
          <p:cNvPr id="41" name="图片 40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65A0849D-2A9A-0885-457F-FDE17769CD0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72221" b="43643"/>
          <a:stretch>
            <a:fillRect/>
          </a:stretch>
        </p:blipFill>
        <p:spPr>
          <a:xfrm>
            <a:off x="6230936" y="5090270"/>
            <a:ext cx="1027747" cy="95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267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1E64EE-392F-7ADF-7529-CB4BA4D85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41F16D0B-2460-6FF3-BCBF-6F2FBF7A9F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0936" y="4614978"/>
            <a:ext cx="6096528" cy="342929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2ABD793-E12C-4AC6-E19E-FCB88E962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336" y="365125"/>
            <a:ext cx="6096528" cy="342929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50F5B9E-C0C6-1D1C-CC01-0E60AE3BEF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369" y="2294334"/>
            <a:ext cx="5691744" cy="395063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32F384E-CFB0-1CAC-C990-65934B2BD1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997" y="365124"/>
            <a:ext cx="6096528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762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214</Words>
  <Application>Microsoft Office PowerPoint</Application>
  <PresentationFormat>宽屏</PresentationFormat>
  <Paragraphs>26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Arial</vt:lpstr>
      <vt:lpstr>Tw Cen MT</vt:lpstr>
      <vt:lpstr>Office 主题​​</vt:lpstr>
      <vt:lpstr>On-table drinking reminder</vt:lpstr>
      <vt:lpstr>Sensor</vt:lpstr>
      <vt:lpstr>Display</vt:lpstr>
      <vt:lpstr>Figure &amp; Diagram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伟业 徐</dc:creator>
  <cp:lastModifiedBy>伟业 徐</cp:lastModifiedBy>
  <cp:revision>25</cp:revision>
  <dcterms:created xsi:type="dcterms:W3CDTF">2026-01-20T08:04:43Z</dcterms:created>
  <dcterms:modified xsi:type="dcterms:W3CDTF">2026-01-20T11:30:24Z</dcterms:modified>
</cp:coreProperties>
</file>